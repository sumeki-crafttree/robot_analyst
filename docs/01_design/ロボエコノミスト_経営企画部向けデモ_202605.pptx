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弱気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鹿島</c:v>
                  </c:pt>
                  <c:pt idx="1">
                    <c:v>大林</c:v>
                  </c:pt>
                  <c:pt idx="2">
                    <c:v>大成</c:v>
                  </c:pt>
                  <c:pt idx="3">
                    <c:v>清水</c:v>
                  </c:pt>
                  <c:pt idx="4">
                    <c:v>長谷工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-11</c:v>
                </c:pt>
                <c:pt idx="1">
                  <c:v>-9</c:v>
                </c:pt>
                <c:pt idx="2">
                  <c:v>-13.5</c:v>
                </c:pt>
                <c:pt idx="3">
                  <c:v>-8</c:v>
                </c:pt>
                <c:pt idx="4">
                  <c:v>-22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ベース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鹿島</c:v>
                  </c:pt>
                  <c:pt idx="1">
                    <c:v>大林</c:v>
                  </c:pt>
                  <c:pt idx="2">
                    <c:v>大成</c:v>
                  </c:pt>
                  <c:pt idx="3">
                    <c:v>清水</c:v>
                  </c:pt>
                  <c:pt idx="4">
                    <c:v>長谷工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-5</c:v>
                </c:pt>
                <c:pt idx="3">
                  <c:v>-2</c:v>
                </c:pt>
                <c:pt idx="4">
                  <c:v>-3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強気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鹿島</c:v>
                  </c:pt>
                  <c:pt idx="1">
                    <c:v>大林</c:v>
                  </c:pt>
                  <c:pt idx="2">
                    <c:v>大成</c:v>
                  </c:pt>
                  <c:pt idx="3">
                    <c:v>清水</c:v>
                  </c:pt>
                  <c:pt idx="4">
                    <c:v>長谷工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8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8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95959"/>
                    </a:solidFill>
                    <a:latin typeface="Arial"/>
                  </a:rPr>
                  <a:t>営業利益インパクト(%、対会社予想)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8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弱気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ソニーG</c:v>
                  </c:pt>
                  <c:pt idx="1">
                    <c:v>キオクシア</c:v>
                  </c:pt>
                  <c:pt idx="2">
                    <c:v>東エレ</c:v>
                  </c:pt>
                  <c:pt idx="3">
                    <c:v>ルネサス</c:v>
                  </c:pt>
                  <c:pt idx="4">
                    <c:v>信越化学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-7</c:v>
                </c:pt>
                <c:pt idx="1">
                  <c:v>-35</c:v>
                </c:pt>
                <c:pt idx="2">
                  <c:v>-25</c:v>
                </c:pt>
                <c:pt idx="3">
                  <c:v>0</c:v>
                </c:pt>
                <c:pt idx="4">
                  <c:v>-7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ベース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ソニーG</c:v>
                  </c:pt>
                  <c:pt idx="1">
                    <c:v>キオクシア</c:v>
                  </c:pt>
                  <c:pt idx="2">
                    <c:v>東エレ</c:v>
                  </c:pt>
                  <c:pt idx="3">
                    <c:v>ルネサス</c:v>
                  </c:pt>
                  <c:pt idx="4">
                    <c:v>信越化学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17</c:v>
                </c:pt>
                <c:pt idx="2">
                  <c:v>35</c:v>
                </c:pt>
                <c:pt idx="3">
                  <c:v>40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強気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ソニーG</c:v>
                  </c:pt>
                  <c:pt idx="1">
                    <c:v>キオクシア</c:v>
                  </c:pt>
                  <c:pt idx="2">
                    <c:v>東エレ</c:v>
                  </c:pt>
                  <c:pt idx="3">
                    <c:v>ルネサス</c:v>
                  </c:pt>
                  <c:pt idx="4">
                    <c:v>信越化学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</c:v>
                </c:pt>
                <c:pt idx="1">
                  <c:v>40</c:v>
                </c:pt>
                <c:pt idx="2">
                  <c:v>60</c:v>
                </c:pt>
                <c:pt idx="3">
                  <c:v>60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8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8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95959"/>
                    </a:solidFill>
                    <a:latin typeface="Arial"/>
                  </a:rPr>
                  <a:t>営業利益インパクト(%、対会社予想)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8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6152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54864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6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 Economist for Corporate Planning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事業経済アナリストAI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マクロ経済→自社業績への翻訳機能を、月次・継続的に。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0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経営企画部のためのロボエコノミスト・サービス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 / 財務戦略 / IRご担当者さま向け プロダクトデモ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2026年5月 / 事業経済アナリストAI チーム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ご提案サマリー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貴社専属のマクロ翻訳機能を、フルタイム雇用の1/5の費用で。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411480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36576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マクロ→自社業績を月次で翻訳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金利・為替・資材・需要・規制など20-40指標を、貴社事業セグメントへの定量影響(タイムラグ付き)に変換。「+50bpで弊社業績▲X億円」が即座に分かる。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657600" cy="411480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20240"/>
            <a:ext cx="36576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3シナリオで意思決定を補強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ベース/弱気/強気の3シナリオで12-24ヶ月先の業績インパクトを試算。中期計画・予算策定・投資意思決定の根拠資料として活用可能。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57600" cy="411480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920240"/>
            <a:ext cx="36576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月30万円〜の3ティア構成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 30万円 / Premium 80万円 / Enterprise 200万円。フルタイム経済アナリスト雇用(年2,500-3,500万円)の1/5〜1/8の費用で同等機能。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904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本日は、建設セクター(5社)と半導体セクター(5社)の2つの実物デモレポートをお見せします。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事業会社にエコノミスト機能は存在するか？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現実は「不在」または「片手間」です。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経営企画部・財務戦略部の現実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予実管理・取締役会資料・中計策定で常時手一杯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マクロ翻訳の専任時間が取れない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493008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セルサイドレポートは投資家向け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経営判断の解像度に合わない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4334256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88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シンクタンクは業界マクロまで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6542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個社への翻訳は内製が必要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5175504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フルタイム経済アナリスト採用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4955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年2,500-3,500万円、採用も困難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920240"/>
            <a:ext cx="521208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8288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26" name="Text 24"/>
          <p:cNvSpPr/>
          <p:nvPr/>
        </p:nvSpPr>
        <p:spPr>
          <a:xfrm>
            <a:off x="6858000" y="30175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マクロ指標を自社事業に翻訳する機能は、大手でも例外なく『片手間』です。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大手ゼネコン経営企画担当役員（仮）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既存の代替案は、どれも穴がある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頻度・視点・カスタマイズ・データ統合のいずれかが欠落。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9184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代替案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828800"/>
            <a:ext cx="18288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年間コスト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16459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頻度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16459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個社翻訳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37744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社内データ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32918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セルサイドアナリストレポート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2286000"/>
            <a:ext cx="1828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100-300万円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四半期＋随時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2860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2286000"/>
            <a:ext cx="2377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Bloomberg / FactSet / QUICK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200-500万円/席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7432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27432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2743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業界シンクタンク年会員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0" y="3200400"/>
            <a:ext cx="1828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50-200万円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32004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32004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業界まで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61120" y="3200400"/>
            <a:ext cx="2377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65760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コンサルファーム(単発)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048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1,000-5,000万円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36576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36576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61120" y="36576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25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プロジェクト中のみ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32918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フルタイム経済アナリスト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840480" y="4114800"/>
            <a:ext cx="1828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2,500-3,500万円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69280" y="41148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常時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0" y="4114800"/>
            <a:ext cx="16459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961120" y="4114800"/>
            <a:ext cx="2377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525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4572000"/>
            <a:ext cx="3291840" cy="45720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ロボエコノミスト Standard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840480" y="4572000"/>
            <a:ext cx="1828800" cy="45720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360万円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69280" y="4572000"/>
            <a:ext cx="1645920" cy="45720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15200" y="4572000"/>
            <a:ext cx="1645920" cy="45720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961120" y="4572000"/>
            <a:ext cx="2377440" cy="45720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5256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限定的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5029200"/>
            <a:ext cx="3291840" cy="457200"/>
          </a:xfrm>
          <a:prstGeom prst="rect">
            <a:avLst/>
          </a:prstGeom>
          <a:solidFill>
            <a:srgbClr val="F4E3A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ロボエコノミスト Premium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840480" y="5029200"/>
            <a:ext cx="1828800" cy="457200"/>
          </a:xfrm>
          <a:prstGeom prst="rect">
            <a:avLst/>
          </a:prstGeom>
          <a:solidFill>
            <a:srgbClr val="F4E3A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960万円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669280" y="5029200"/>
            <a:ext cx="1645920" cy="457200"/>
          </a:xfrm>
          <a:prstGeom prst="rect">
            <a:avLst/>
          </a:prstGeom>
          <a:solidFill>
            <a:srgbClr val="F4E3A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6072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月次+週次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15200" y="5029200"/>
            <a:ext cx="1645920" cy="457200"/>
          </a:xfrm>
          <a:prstGeom prst="rect">
            <a:avLst/>
          </a:prstGeom>
          <a:solidFill>
            <a:srgbClr val="F4E3A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961120" y="5029200"/>
            <a:ext cx="2377440" cy="457200"/>
          </a:xfrm>
          <a:prstGeom prst="rect">
            <a:avLst/>
          </a:prstGeom>
          <a:solidFill>
            <a:srgbClr val="F4E3A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5256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8640" y="5486400"/>
            <a:ext cx="3291840" cy="457200"/>
          </a:xfrm>
          <a:prstGeom prst="rect">
            <a:avLst/>
          </a:prstGeom>
          <a:solidFill>
            <a:srgbClr val="C9A227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ロボエコノミスト Enterprise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840480" y="5486400"/>
            <a:ext cx="1828800" cy="457200"/>
          </a:xfrm>
          <a:prstGeom prst="rect">
            <a:avLst/>
          </a:prstGeom>
          <a:solidFill>
            <a:srgbClr val="C9A227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31920" y="5486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2,400万円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669280" y="5486400"/>
            <a:ext cx="1645920" cy="457200"/>
          </a:xfrm>
          <a:prstGeom prst="rect">
            <a:avLst/>
          </a:prstGeom>
          <a:solidFill>
            <a:srgbClr val="C9A227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60720" y="5486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週次+随時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315200" y="5486400"/>
            <a:ext cx="1645920" cy="457200"/>
          </a:xfrm>
          <a:prstGeom prst="rect">
            <a:avLst/>
          </a:prstGeom>
          <a:solidFill>
            <a:srgbClr val="C9A227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5486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961120" y="5486400"/>
            <a:ext cx="2377440" cy="457200"/>
          </a:xfrm>
          <a:prstGeom prst="rect">
            <a:avLst/>
          </a:prstGeom>
          <a:solidFill>
            <a:srgbClr val="C9A227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052560" y="5486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フル統合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ロボエコノミストは「月次の継続性」「個社への翻訳」「社内データとの接続」を一本化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トランスミッション・メカニズム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マクロ→個社KPI→業績への因果連鎖を「タイムラグ・感応度・閾値」で体系化。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33832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マクロ指標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為替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資材価格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労務単価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公共投資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Hyperscaler CapEx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メモリ価格 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011680"/>
            <a:ext cx="3383280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個社翻訳ロジック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事業セグメント別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顧客産業別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感応度係数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タイムラグ仮定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転嫁率仮定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11680"/>
            <a:ext cx="33832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個社業績インパクト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売上影響(億円)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営業利益影響(%)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受注高影響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12-24ヶ月先まで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023360" y="3703320"/>
            <a:ext cx="274320" cy="274320"/>
          </a:xfrm>
          <a:prstGeom prst="rt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7863840" y="3703320"/>
            <a:ext cx="274320" cy="274320"/>
          </a:xfrm>
          <a:prstGeom prst="rt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「10Y金利+50bp」→「9-18ヶ月遅行で開発事業▲500億円規模」までを毎月、貴社専用に翻訳します。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月次レポートの構成 — 8シート構造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標準フォーマットで業種を超えて再現性あり。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表紙＋エグゼクティブサマリー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Calls / 推奨スタンス / セクター総括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74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86600" y="2039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マクロダッシュボード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20-40指標、信号機判定、前月差・前年差、コメント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17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08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5社プロファイル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566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業績・セグメント構成・財務・市場評価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017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08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86600" y="3182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マクロ→個社感応度マトリクス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566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マクロ変数×企業の感応度行列、タイムラグ付き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60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41732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シナリオ分析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ベース/弱気/強気、12-24ヶ月インパクト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0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160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251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08660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個社カバレッジサマリー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1社1枚相当、モメンタム・論点・リスク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303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94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417320" y="5468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投資ポジショニング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17320" y="5852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感応度×バリュエーションの2軸プロット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303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303520"/>
            <a:ext cx="54864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394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⑧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086600" y="5468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データソース・前提・改定履歴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5852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全数字の出所・モデル前提・履歴管理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6152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 of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建設セクター 月次レポート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スーパーゼネコン4社 + 長谷工コーポレーション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鹿島(1812)・大林(1802)・大成(1801)・清水(1803)・長谷工(1808)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1 — CONSTRUCTION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マクロダッシュボード（建設業）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2026年5月号: 金利地殻変動が最大の論点。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1554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前月差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783080"/>
            <a:ext cx="73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4747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10年国債利回り(JGB)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1945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+0.85pt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1945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+1.50pt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194560"/>
            <a:ext cx="731520" cy="41148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▼逆風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219456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前月1.58%から急騰、30年ぶり水準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2606040"/>
            <a:ext cx="27432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公共工事設計労務単価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606040"/>
            <a:ext cx="15544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+6.0%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60604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260604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+6.0%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2606040"/>
            <a:ext cx="731520" cy="41148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2606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▼逆風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13年連続上昇、固定費化が進行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301752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H形鋼(東京)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301752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10.6万円/t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01752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301752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06640" y="3017520"/>
            <a:ext cx="731520" cy="411480"/>
          </a:xfrm>
          <a:prstGeom prst="rect">
            <a:avLst/>
          </a:prstGeom>
          <a:solidFill>
            <a:srgbClr val="FEF4E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－中立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38160" y="301752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3017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需要低調で横ばい、製造コスト圧力内在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3429000"/>
            <a:ext cx="27432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セメント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91840" y="3429000"/>
            <a:ext cx="15544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18,000円/t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342900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342900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7220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06640" y="3429000"/>
            <a:ext cx="731520" cy="411480"/>
          </a:xfrm>
          <a:prstGeom prst="rect">
            <a:avLst/>
          </a:prstGeom>
          <a:solidFill>
            <a:srgbClr val="FEF4E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236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－中立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138160" y="342900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8388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国内販売▲5.4%、横ばい見通し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384048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オフィス空室率(都心5区)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91840" y="384048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3756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2.20%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▲0.10pt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126480" y="384048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7220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▲0.30pt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06640" y="384048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138160" y="38404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8388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需給タイト化、賃料上昇継続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" y="4251960"/>
            <a:ext cx="27432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オフィス平均賃料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91840" y="4251960"/>
            <a:ext cx="15544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37560" y="4251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21,969円/坪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846320" y="425196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+0.5%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126480" y="425196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72200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+7.3%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406640" y="425196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52360" y="4251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138160" y="425196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83880" y="4251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新築供給コスト上昇に追従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48640" y="466344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4360" y="4663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国土強靱化 次期5か年計画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291840" y="466344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337560" y="4663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20兆円超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846320" y="466344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92040" y="4663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126480" y="466344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72200" y="4663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406640" y="466344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5236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138160" y="46634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3880" y="4663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FY26-30、土木受注の下支え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48640" y="5074920"/>
            <a:ext cx="27432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94360" y="5074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住宅ローン金利(変動)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291840" y="5074920"/>
            <a:ext cx="15544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337560" y="5074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上昇傾向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846320" y="507492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92040" y="5074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+0.05pt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126480" y="507492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72200" y="5074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+0.30pt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406640" y="5074920"/>
            <a:ext cx="731520" cy="41148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5236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▼逆風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8138160" y="507492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83880" y="5074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10Y上昇で固定型は前月比+0.3pt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INSIGHT: 10Y金利が30年ぶり水準に急騰。デベロッパー機能を持つ鹿島・大林・清水は9-18ヶ月遅行で、長谷工は3-6ヶ月で直撃。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1 — SENSITIVITY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マクロ→個社感応度マトリクス（建設業、抜粋）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 = 影響経路 / タイムラグ / 営業利益への定量影響。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マクロ変数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鹿島建設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大林組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大成建設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4152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清水建設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12096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7816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長谷工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40280"/>
            <a:ext cx="182880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2402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10年金利 +50bp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2240280"/>
            <a:ext cx="1883664" cy="96012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開発▲500億円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9-18ヶ月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営業益▲3〜5%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61104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海外開発▲200億円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9-18ヶ月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営業益▲2〜3%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4768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影響限定的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9-18ヶ月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28432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584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開発▲150億円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9-18ヶ月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12096" y="2240280"/>
            <a:ext cx="1883664" cy="96012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85248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需要▲5〜10%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3-6ヶ月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営業益▲5〜10%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182880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20040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労務単価 +5%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原価+1.5%・転嫁70%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▲1.5pt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61104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原価+1.5%・転嫁65%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▲1.5pt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3200400"/>
            <a:ext cx="1883664" cy="96012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原価+1.8%・転嫁60%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▲2.0pt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28432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01584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原価+1.5%・転嫁65%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▲1.5pt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12096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85248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サブコン経由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▲1.0pt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160520"/>
            <a:ext cx="182880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41605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公共投資 +10%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77440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土木+5〜7%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12-24ヶ月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営業益+1pt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61104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34256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土木+5%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営業益+1pt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土木+7%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営業益+1.5pt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28432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01584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土木+5%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営業益+1pt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912096" y="416052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85248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影響軽微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5120640"/>
            <a:ext cx="182880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5120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オフィス空室率 +1pt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77440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50592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建築受注▲300-500億円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6-18ヶ月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61104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34256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建築受注▲400-600億円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6-18ヶ月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44768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建築受注▲300-500億円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6-18ヶ月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28432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01584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建築受注▲300-400億円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6-18ヶ月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912096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85248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影響軽微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1 — SCENARIO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シナリオ別 FY27 営業利益インパクト（建設業）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5社の振れ幅は ±10〜25%。長谷工が最大感応。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読み方: 弱気シナリオ(金利+0.5pt・資材+10%・建築需要悪化)で長谷工は▲22%、強気(再緩和+公共投資加速)で長谷工は+10%。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マクロ感応度が極めて高い長谷工は、シナリオ次第で振れ幅最大。これが「マクロ翻訳」の価値です。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6152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of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半導体セクター 月次レポート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バリューチェーン縦串 5社カバレッジ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ソニーG(6758)・キオクシアHD(285A)・東京エレクトロン(8035)・ルネサス(6723)・信越化学(4063)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2 — SEMICONDUCTOR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マクロダッシュボード（半導体業）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AI設備投資ブームとメモリ高騰が主役、地政学リスクが副題。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9260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1737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前月差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463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73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1783080"/>
            <a:ext cx="29260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世界半導体市場(WSTS 2026)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19456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+64%・1.3兆ドル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21945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19456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19456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0" y="21945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AIサーバー牽引で過去最高成長率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260604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DRAMコントラクト価格(2Q26)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2606040"/>
            <a:ext cx="17373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+58〜63%QoQ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60604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++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2606040"/>
            <a:ext cx="146304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+125%(年率)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260604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2606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86800" y="260604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HBM集中でDRAM絞り込み、歴史的高騰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30175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NANDフラッシュ価格(2Q26)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301752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+70〜75%QoQ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301752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++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30175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+234%(年率)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55280" y="301752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686800" y="30175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DC向け急増、価格3倍超見込み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342900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Hyperscaler CapEx 2026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0" y="3429000"/>
            <a:ext cx="17373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$725B(+77%YoY)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12080" y="342900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92240" y="3429000"/>
            <a:ext cx="146304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55280" y="342900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686800" y="342900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3252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Amazon$200B/Google$180B/Meta$125B/MS$115B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384048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USD/JPY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74720" y="384048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2044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150円台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212080" y="384048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5780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+1円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92240" y="38404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+3円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955280" y="384048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0100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686800" y="384048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3252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円安は5社全社に+影響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" y="425196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" y="4251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SOX指数(YoY)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474720" y="4251960"/>
            <a:ext cx="17373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2044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高値更新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212080" y="425196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57800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92240" y="4251960"/>
            <a:ext cx="146304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3796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+30%程度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955280" y="425196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01000" y="4251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686800" y="425196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732520" y="4251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V字回復で関税ショック克服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48640" y="46634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436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米中輸出規制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474720" y="466344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20440" y="4663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212080" y="466344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57800" y="4663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492240" y="466344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37960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横ばい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955280" y="4663440"/>
            <a:ext cx="731520" cy="411480"/>
          </a:xfrm>
          <a:prstGeom prst="rect">
            <a:avLst/>
          </a:prstGeom>
          <a:solidFill>
            <a:srgbClr val="FEF4E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0100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－中立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686800" y="46634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73252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2026年内の追加規制リスクは残る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48640" y="507492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9436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ラピダス2nm試作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474720" y="5074920"/>
            <a:ext cx="17373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20440" y="5074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順調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212080" y="5074920"/>
            <a:ext cx="128016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57800" y="5074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492240" y="5074920"/>
            <a:ext cx="146304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37960" y="5074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955280" y="5074920"/>
            <a:ext cx="731520" cy="41148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0100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▲追風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8686800" y="5074920"/>
            <a:ext cx="292608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73252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国内先端装置需要+、TELに+影響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INSIGHT: AI設備投資+77%・メモリ価格DRAM+125%/NAND+234%。日本5社に同時追い風、ただしAIバブル懸念が最大下方リスク。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2 — SENSITIVITY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マクロ→個社感応度マトリクス（半導体業、抜粋）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建設業との対比で「感応度の桁が違う」ことが鮮明に。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マクロ変数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ソニーG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キオクシアHD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10528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東京エレクトロン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94192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ルネサス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277856" y="1783080"/>
            <a:ext cx="1883664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23576" y="17830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信越化学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40280"/>
            <a:ext cx="219456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24028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NAND価格 +10%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影響なし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224028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売上+8〜10%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営業益+20%超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10528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影響なし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94192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影響なし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77856" y="224028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51008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影響なし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219456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20040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Hyperscaler CapEx +10%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影響軽微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DC向けSSD+5〜10%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3-6ヶ月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10528" y="320040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受注+8〜10%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3-9ヶ月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営業益+10〜15%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94192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DC向け産業MCU微増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77856" y="320040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51008" y="3200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ウェハー需要+3〜5%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営業益+5%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160520"/>
            <a:ext cx="219456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416052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USD/JPY 円安+10円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16352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営業益+800〜1,000億円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26864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営業益+400〜500億円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10528" y="4160520"/>
            <a:ext cx="1883664" cy="960120"/>
          </a:xfrm>
          <a:prstGeom prst="rect">
            <a:avLst/>
          </a:prstGeom>
          <a:solidFill>
            <a:srgbClr val="E5F4E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営業益+300〜400億円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94192" y="416052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67344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営業益+150〜200億円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277856" y="416052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51008" y="4160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営業益+250〜300億円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5120640"/>
            <a:ext cx="2194560" cy="9601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512064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AIバブル懸念顕在化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(CapEx▲20%)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0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16352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影響軽微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26864" y="5120640"/>
            <a:ext cx="1883664" cy="96012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0016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DC向けNAND▲20%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3-6ヶ月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営業益▲30%超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10528" y="5120640"/>
            <a:ext cx="1883664" cy="960120"/>
          </a:xfrm>
          <a:prstGeom prst="rect">
            <a:avLst/>
          </a:prstGeom>
          <a:solidFill>
            <a:srgbClr val="FBE7E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受注▲15〜25%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3-9ヶ月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営業益▲30〜40%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394192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67344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影響軽微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277856" y="5120640"/>
            <a:ext cx="188366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51008" y="5120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電子材料▲5〜10%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6-12ヶ月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DEMO 2 — SCENARIO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シナリオ別 FY27 営業利益インパクト（半導体業）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振れ幅 ±30〜50% — 建設業の3-5倍。アナリスト機能の重要度が桁違い。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EAF0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読み方: 建設業のシナリオ振れ幅 ±10〜15%に対し、半導体は ±30〜50%が普通。サイクル短期化と顧客産業多様性が要因。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半導体経営企画では「毎週レポートを書かないと追いつけない」のが現実。月次レポートだけでも全社サマリーとして極めて有効。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CROSS-SECTOR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同一フォーマット、業種を超えた再現性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建設↔半導体の対比で見えるもの。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926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典型サイクル長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3317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9-18ヶ月(受注→売上計上)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23317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3-6ヶ月(在庫サイクル)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顧客産業の多様性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83464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834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国内中心、限定的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283464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834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自動車・PC・スマホ・DC・産業 全方位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マクロ感応度の振れ幅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3375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±10〜15%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33375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±30〜50%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為替・地政学の重要度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384048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384048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極めて高い(米中・台湾)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34340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43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転嫁率・物価スライド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4343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70%程度、契約条項あり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89520" y="4343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メモリは即時自動、装置はノード進化次第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84632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推奨レポート頻度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0" y="484632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4846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月次で十分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89520" y="484632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4846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月次+週次推奨、Enterpriseは随時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349240"/>
            <a:ext cx="2926080" cy="502920"/>
          </a:xfrm>
          <a:prstGeom prst="rect">
            <a:avLst/>
          </a:prstGeom>
          <a:solidFill>
            <a:srgbClr val="EAF0FC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推奨ティア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0" y="53492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5349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Standard/Premium中心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89520" y="53492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5349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Premium/Enterprise中心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同一の8シートフォーマットで業種特性をすべて表現可能。今後、不動産・自動車・化学・小売・金融へ横展開予定。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価格プラン — 3ティア構成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貴社規模・ニーズに合わせてお選びいただけます。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470916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 30万円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年360万円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474720"/>
            <a:ext cx="27432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1188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月次レポート×1（標準8シート）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セクター標準5社カバレッジ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マクロ指標20項目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シナリオ分析(ベース/弱気/強気)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Excel配信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メール質問対応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解約：月次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594360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943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中堅(売上300-1,000億円)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657600" cy="4709160"/>
          </a:xfrm>
          <a:prstGeom prst="rect">
            <a:avLst/>
          </a:prstGeom>
          <a:solidFill>
            <a:srgbClr val="F4E3A1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508760"/>
            <a:ext cx="14630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 80万円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2628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年960万円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27432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61188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月次×1 + 週次サマリー×4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標準5社 + 自社競合3社カスタム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マクロ指標40項目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標準シナリオ + カスタム1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Webダッシュボード(BI連携)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月1回30分セッション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社内データ限定統合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解約：四半期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594360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5943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大手(売上1,000-5,000億円)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657600" cy="470916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 200万円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3210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年2,400万円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95360" y="3474720"/>
            <a:ext cx="27432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61188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週次×4 + アドホックアラート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自社/競合/サプライチェーン15社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マクロ指標60項目+独自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標準＋カスタム3シナリオ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BI連携 + API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月3回 + Slack/Teams常駐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社内データフル統合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経営会議用CXOブリーフ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解約：年次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0" y="5943600"/>
            <a:ext cx="3108960" cy="365760"/>
          </a:xfrm>
          <a:prstGeom prst="rect">
            <a:avLst/>
          </a:prstGeom>
          <a:solidFill>
            <a:srgbClr val="C9A22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5943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超大手(売上5,000億円超)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導入プロセス — 最短2週間でPoC開始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業種・社内データ・カスタム指標を順次設計。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463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96596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1874520"/>
            <a:ext cx="882396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920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初回ヒアリング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2219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経営企画・財務・IRから現状ニーズ把握。30-60分×1〜2回。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463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278892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88920" y="2697480"/>
            <a:ext cx="882396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7432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カスタム設計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0449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対象セクター・5社、マクロ指標、シナリオ前提を貴社向けに設計。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463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36118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88920" y="3520440"/>
            <a:ext cx="882396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566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PoC初号配信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38679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サンプル月次レポートを配信。社内レビュー＋フィードバック。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463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3-4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94560" y="443484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88920" y="4343400"/>
            <a:ext cx="882396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フィードバック反映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26080" y="46908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社内データ統合(Premium以上)、感応度精緻化、ダッシュボード構築。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4630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166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2-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94560" y="52578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88920" y="5166360"/>
            <a:ext cx="882396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5212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本格運用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926080" y="55138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毎月決まったタイミングで継続配信。半期に1度モデル見直し。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PoCは2か月の特別価格（標準月額の50%）でご提供します。本契約前にプロダクト価値を実感ください。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TAILORED 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貴社向けカスタマイズ提案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シード3社それぞれの状況に合わせた初期設計案。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キオクシアHD (285A)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Premium 推奨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メモリ価格(DRAM/NAND)・Hyperscaler CapExを最重要マクロに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Samsung/SK Hynix/Micron含むメモリ3社カスタム追加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IPO直後のIR強化局面、四半期決算ナラティブ補強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週次レポートでメモリ価格速報を追加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5760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783080"/>
            <a:ext cx="3657600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ソシオネクスト (6526)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 推奨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自動車生産・データセンターCapExを主要マクロに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Marvell/Broadcom等のSoC設計5社カスタム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中堅ファブレスで経企部少人数、丸ごと外注の感覚で導入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月次レポート1本でカバー、PoC期に効果実証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783080"/>
            <a:ext cx="36576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フジミインコーポレーテッド (5384)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Standard〜Premium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926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シリコンウェハー出荷量・先端ノード進捗を主要マクロに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Cabot Micro/SUMCO/信越化学等のCMP関連5社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純度の高い半導体プレー、感応度試算の精度実証に最適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PoC効果が早く出るため、本契約への移行スムーズ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838"/>
          </a:solidFill>
          <a:ln w="12700">
            <a:solidFill>
              <a:srgbClr val="0F1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6647688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事業経済アナリストAI（ロボエコノミスト）  |  経営企画部向けデモ  |  2026年5月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6476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ご検討の進め方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本日のレポートのご共有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651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本資料および建設・半導体の実物Excelレポート2本(8シート×2)を経企部内で共有。1週間でフィードバックを頂戴したく。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82880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PoC設計ミーティング(60分)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931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貴社の対象セクター・マクロ指標・シナリオ前提を具体化。次月号からの試作レポート設計。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63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82880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PoCサンプルレポートの初号配信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52120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1か月後に貴社向けカスタム月次レポートをお届け。社内レビュー＋導入是非のご判断。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お問い合わせ: 事業経済アナリストAI チーム  |  Email: contact@robo-economist.jp  |  Web: robo-economist.jp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ロボエコノミスト — 経営企画部向けデモ</dc:title>
  <dc:subject>PptxGenJS Presentation</dc:subject>
  <dc:creator>事業経済アナリストAI</dc:creator>
  <cp:lastModifiedBy>事業経済アナリストAI</cp:lastModifiedBy>
  <cp:revision>1</cp:revision>
  <dcterms:created xsi:type="dcterms:W3CDTF">2026-06-16T12:54:03Z</dcterms:created>
  <dcterms:modified xsi:type="dcterms:W3CDTF">2026-06-16T12:54:03Z</dcterms:modified>
</cp:coreProperties>
</file>